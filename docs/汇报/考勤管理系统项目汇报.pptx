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开场：这是一套给临时工用的考勤系统，今天从“功能怎么运转”和“技术怎么搭的”两个角度来介绍。最后会讲近期做了什么、还有哪些待改进。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用三句话讲清楚：业务复杂在哪、以前怎么难、现在要达到什么。强调“一套口径”和“可追溯”是核心目标。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使用者对应不同权限。文员和分公司管理员受“管理范围”限制，只看得到自己部门的数据；只有总部超级管理员不受限。八个模块里，打卡、排班、审批、工时计算是主干，其余是围绕它们的管理和报表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这页是功能地图，后面几页分别展开打卡、工时规则、审批与转班、报表与数据核对。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三种来源最终进入同一套归属和结算逻辑：先判断这次打卡属于哪一天，再按规则算工时。夜班跨零点的打卡归到上班那天。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这页是整个系统最核心的口径。强调“同一套函数”：同一个人同一天，不管从哪条路径结算，结果应该一致。新增的一点是饭点按班次设置：例如新能源客服的白班，晚饭设成 17:30–18:30，就不会再多扣 0.5 小时，之前在报表里做的补偿因此取消了。饭点只影响加班时长，不影响正班工时和请假。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这是最近最大的一块功能：用考勤组开关隔离规则，既满足这家公司，又保证别的公司的算法一字不动。59 人是目前两个计时工考勤组的人数。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“防错”的思路：问题尽量在提交时拦住，拦不住的在回写时和补排班后对账。申请现在有五类：请假、加班、补卡、出差、转班。有效期只对补卡和转班生效，因为加班、请假、出差一旦作废，员工无法再补交，所以只留给审批人处理，不自动作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前员工要临时换班（比如白班的人这几天上夜班），只能找管理员改排班。现在自己在提交申请里选“转班申请”，审批通过后系统自动改排班，并把已有打卡按新班次重新判迟到、早退和工时，备注里会写明原班次。已知限制：转班不会自动给旧打卡重新归属，只是提醒人工核对；通过后员工不能自己撤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员工记录查询页是管理员遇到“这个人为什么是这个工时”时的第一站。口径登记表是内部文档，记录每条规则当时是谁确认的、为什么这样定，目前已登记 206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类疑点是：工时与打卡不符、加班多记、加班少记、有打卡但没排班、排班类型与打卡时间对不上、有打卡却记旷工，另有上下班时间倒挂。设计取舍是“能确定的自动改，不确定的只通知”：规则变更会让历史工时变化，所以夜里只订正补排班这一类，其余交给人判断。审查中发现自动订正曾会把手工修正过的加班抹掉，已改成只减不增、保留手工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选单体是因为业务规则高度相关，工时计算、打卡、审批互相引用，拆开反而增加一致性成本。考勤机直接推数据到应用，不经过登录。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这页回答“用什么做的”。可以重点提三点：应用是 ASP.NET Core 8 加 EF Core 9，数据库用 MariaDB；打卡有两条来源，考勤机主动推送和手机人脸；智能助手默认关闭，密钥不写进代码，走环境变量。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技术上最想强调的是前两点：规则集中和开关隔离。系统出过的问题大多是“同一件事在几个地方各写了一份”，所以今天做的很多修复都是在把它们收回到一处。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如实说明现状：558 个测试里 6 个在当前开发机上失败，都和运行环境有关（私有文件的路径与文件是否存在），不是业务逻辑问题。建议在标准环境里补跑一遍确认。其余 552 个全部通过，每次发布前都全量跑一遍。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这些都是最近几周完成并已上线的内容，最新的一批是转班申请、数据核对、饭点按班次设置和申请有效期。可以挑一两个讲细节：比如计时工模式的开关隔离，或者数据核对为什么只自动订正一类。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本都是速查体例：开头一张“我想做什么，去哪里”对照表，后面按菜单逐项讲操作和注意事项。员工版适合发给一线员工；文员版适合新接手的文员和分公司管理员，重点讲清管理范围、手动补卡、数据核对和月度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下一步的重点不是再加功能，而是让数据跟得上规则：排班补全、账号清理。技术上优先做密码策略和归属逻辑收敛。图片组件目前的漏洞实际风险低（已不接受 TIFF 上传），升级要等授权结论。需要业务侧确认的是多段午间窗口口径。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收尾：重申三点——一套口径、规则隔离、数据可追溯。然后进入提问。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1528127"/>
            <a:ext cx="1056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2160" b="0" lang="zh-CN">
                <a:solidFill>
                  <a:srgbClr val="5CC4C4"/>
                </a:solidFill>
                <a:latin typeface="Microsoft YaHei"/>
              </a:rPr>
              <a:t>项目汇报 · 技术与功能视角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66175"/>
            <a:ext cx="10566400" cy="922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600" b="1" lang="zh-CN">
                <a:solidFill>
                  <a:srgbClr val="F7F6F2"/>
                </a:solidFill>
                <a:latin typeface="Microsoft YaHei"/>
              </a:rPr>
              <a:t>考勤管理系统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342195"/>
            <a:ext cx="8255000" cy="1056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2970" b="0" lang="zh-CN">
                <a:solidFill>
                  <a:srgbClr val="C9D2E3"/>
                </a:solidFill>
                <a:latin typeface="Microsoft YaHei"/>
              </a:rPr>
              <a:t>面向临时工的多分公司考勤、排班、审批与工时核算平台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4652327"/>
            <a:ext cx="1016000" cy="3810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969827"/>
            <a:ext cx="10566400" cy="3600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9FB0CC"/>
                </a:solidFill>
                <a:latin typeface="Microsoft YaHei"/>
              </a:rPr>
              <a:t>汇报人：吴文喆　·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为什么做：临时工考勤，规则多、变化快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82495"/>
            <a:ext cx="3386666" cy="43627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1987295"/>
            <a:ext cx="2777066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业务特点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542921"/>
            <a:ext cx="277706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2160" b="0" lang="zh-CN">
                <a:solidFill>
                  <a:srgbClr val="3B4660"/>
                </a:solidFill>
                <a:latin typeface="Microsoft YaHei"/>
              </a:rPr>
              <a:t>多分公司、多考勤组并行；白班、夜班、计时工三种用工方式并存；员工流动大，每个月都有入职和离职。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666" y="1682495"/>
            <a:ext cx="3386666" cy="43627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7466" y="1987295"/>
            <a:ext cx="2777066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原来的痛点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7466" y="2542921"/>
            <a:ext cx="277706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2160" b="0" lang="zh-CN">
                <a:solidFill>
                  <a:srgbClr val="3B4660"/>
                </a:solidFill>
                <a:latin typeface="Microsoft YaHei"/>
              </a:rPr>
              <a:t>靠表格和人工核对，工时口径不统一；加班、请假、补卡没有闭环；发薪前要花大量时间复核。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533" y="1682495"/>
            <a:ext cx="3386666" cy="4362704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7333" y="1987295"/>
            <a:ext cx="2777066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E0A030"/>
                </a:solidFill>
                <a:latin typeface="Microsoft YaHei"/>
              </a:rPr>
              <a:t>系统目标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7333" y="2542921"/>
            <a:ext cx="277706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2160" b="0" lang="zh-CN">
                <a:solidFill>
                  <a:srgbClr val="E3E8F2"/>
                </a:solidFill>
                <a:latin typeface="Microsoft YaHei"/>
              </a:rPr>
              <a:t>一套口径算工时；从打卡到发薪表全程可追溯；规则可配置，变更后能自动对账。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系统全景：四类使用者，八个核心模块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31695"/>
            <a:ext cx="2527300" cy="2757805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1860295"/>
            <a:ext cx="207010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430" b="1" lang="zh-CN">
                <a:solidFill>
                  <a:srgbClr val="14213D"/>
                </a:solidFill>
                <a:latin typeface="Microsoft YaHei"/>
              </a:rPr>
              <a:t>员工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2334958"/>
            <a:ext cx="2070100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手机人脸打卡；提交请假、加班、补卡、出差、转班；查看自己的记录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2500" y="1631695"/>
            <a:ext cx="2527300" cy="2757805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21100" y="1860295"/>
            <a:ext cx="2070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430" b="1" lang="zh-CN">
                <a:solidFill>
                  <a:srgbClr val="14213D"/>
                </a:solidFill>
                <a:latin typeface="Microsoft YaHei"/>
              </a:rPr>
              <a:t>班组长 / 主管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100" y="2720721"/>
            <a:ext cx="2070100" cy="1080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审批五类申请，单条或批量；给下属发公告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31695"/>
            <a:ext cx="2527300" cy="2757805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60295"/>
            <a:ext cx="2070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430" b="1" lang="zh-CN">
                <a:solidFill>
                  <a:srgbClr val="14213D"/>
                </a:solidFill>
                <a:latin typeface="Microsoft YaHei"/>
              </a:rPr>
              <a:t>文员 / 管理员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20721"/>
            <a:ext cx="2070100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排班、员工管理、报表导出、数据核对、饭点设置；按管理范围隔离分公司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900" y="1631695"/>
            <a:ext cx="2527300" cy="2757805"/>
          </a:xfrm>
          <a:prstGeom prst="roundRect">
            <a:avLst>
              <a:gd name="adj" fmla="val 402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0500" y="1860295"/>
            <a:ext cx="207010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430" b="1" lang="zh-CN">
                <a:solidFill>
                  <a:srgbClr val="E0A030"/>
                </a:solidFill>
                <a:latin typeface="Microsoft YaHei"/>
              </a:rPr>
              <a:t>系统自身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0500" y="2334958"/>
            <a:ext cx="2070100" cy="1080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考勤机同步、每晚自动核对、申请超时作废、通知提醒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694301"/>
            <a:ext cx="89535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4783201"/>
            <a:ext cx="53975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打卡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35150" y="4694301"/>
            <a:ext cx="89535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2950" y="4783201"/>
            <a:ext cx="53975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排班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57500" y="4694301"/>
            <a:ext cx="89535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300" y="4783201"/>
            <a:ext cx="53975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审批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79850" y="4694301"/>
            <a:ext cx="140970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7650" y="4783201"/>
            <a:ext cx="105410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工时计算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16550" y="4694301"/>
            <a:ext cx="140970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4350" y="4783201"/>
            <a:ext cx="105410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月度报表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53250" y="4694301"/>
            <a:ext cx="140970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1050" y="4783201"/>
            <a:ext cx="105410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员工管理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9950" y="4694301"/>
            <a:ext cx="140970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7750" y="4783201"/>
            <a:ext cx="105410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公告通知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2800" y="5359146"/>
            <a:ext cx="1409700" cy="537844"/>
          </a:xfrm>
          <a:prstGeom prst="roundRect">
            <a:avLst>
              <a:gd name="adj" fmla="val 47225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600" y="5448046"/>
            <a:ext cx="1054100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14605F"/>
                </a:solidFill>
                <a:latin typeface="Microsoft YaHei"/>
              </a:rPr>
              <a:t>智能助手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功能总览：每个模块解决什么问题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701545"/>
            <a:ext cx="1326896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1" lang="zh-CN">
                <a:solidFill>
                  <a:srgbClr val="14213D"/>
                </a:solidFill>
                <a:latin typeface="Microsoft YaHei"/>
              </a:rPr>
              <a:t>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8296" y="1701545"/>
            <a:ext cx="3651504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1" lang="zh-CN">
                <a:solidFill>
                  <a:srgbClr val="14213D"/>
                </a:solidFill>
                <a:latin typeface="Microsoft YaHei"/>
              </a:rPr>
              <a:t>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701545"/>
            <a:ext cx="513080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1" lang="zh-CN">
                <a:solidFill>
                  <a:srgbClr val="14213D"/>
                </a:solidFill>
                <a:latin typeface="Microsoft YaHei"/>
              </a:rPr>
              <a:t>关键设计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083815"/>
            <a:ext cx="10566400" cy="9525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185416"/>
            <a:ext cx="1326896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打卡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8296" y="2185416"/>
            <a:ext cx="3651504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手机人脸、考勤机、补卡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85416"/>
            <a:ext cx="513080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定位范围校验；午间窗口；夜班打卡归属上班那天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2567685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2669285"/>
            <a:ext cx="1326896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排班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2669285"/>
            <a:ext cx="3651504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考勤组、班次、批量排班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69285"/>
            <a:ext cx="513080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过去的排班受保护；补排班后自动对账加班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051555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3153155"/>
            <a:ext cx="1326896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审批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8296" y="3153155"/>
            <a:ext cx="3651504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请假、加班、补卡、出差、转班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153155"/>
            <a:ext cx="5130800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多级审批；加班不与班次重叠；转班通过后自动改排班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828795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00" y="3930395"/>
            <a:ext cx="1326896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工时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8296" y="3930395"/>
            <a:ext cx="3651504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正班、加班、请假、出差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930395"/>
            <a:ext cx="513080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同一套公式；加班饭点按班次设置；半小时向下取整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431266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000" y="4414266"/>
            <a:ext cx="1326896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报表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8296" y="4414266"/>
            <a:ext cx="3651504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发薪汇总、打卡时间表、原始打卡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414266"/>
            <a:ext cx="513080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可指定人员导出；员工记录查询一页看全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479653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000" y="4898136"/>
            <a:ext cx="1326896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核对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8296" y="4898136"/>
            <a:ext cx="3651504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数据核对页、每晚自动核对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898136"/>
            <a:ext cx="513080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14213D"/>
                </a:solidFill>
                <a:latin typeface="Microsoft YaHei"/>
              </a:rPr>
              <a:t>按现行规则重算对比；只自动订正“补排班”一类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28040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打卡：三种方式，同一套结算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手机人脸打卡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466721"/>
            <a:ext cx="28448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接入人脸比对服务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先核对位置，通过才开摄像头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打卡前预告这次记为上班、午间还是下班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42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6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考勤机同步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2466721"/>
            <a:ext cx="28448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熵基 PUSH 协议，设备序列号白名单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打卡时间合理性校验，异常时钟不入库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断网补传，成批结算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56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补卡与更正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0" y="2466721"/>
            <a:ext cx="284480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员工申请补卡，走审批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管理员可手动补卡并撤销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补卡规则提交与回写两次校验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F7F6F2"/>
                </a:solidFill>
                <a:latin typeface="Microsoft YaHei"/>
              </a:rPr>
              <a:t>工时与加班：几种场景，一套公式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701545"/>
            <a:ext cx="1749552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1" lang="zh-CN">
                <a:solidFill>
                  <a:srgbClr val="E0A030"/>
                </a:solidFill>
                <a:latin typeface="Microsoft YaHei"/>
              </a:rPr>
              <a:t>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0952" y="1701545"/>
            <a:ext cx="851204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1" lang="zh-CN">
                <a:solidFill>
                  <a:srgbClr val="E0A030"/>
                </a:solidFill>
                <a:latin typeface="Microsoft YaHei"/>
              </a:rPr>
              <a:t>算法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2083815"/>
            <a:ext cx="10566400" cy="9525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2185416"/>
            <a:ext cx="1749552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普通班次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0952" y="2185416"/>
            <a:ext cx="851204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上下班时间差，扣默认饭点，不超过标准工时；午间窗口漏打只算上午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2567685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669285"/>
            <a:ext cx="1749552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计时工（白班）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0952" y="2669285"/>
            <a:ext cx="8512048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最后一次打卡减第一次打卡，扣午饭 1 小时、晚饭 0.5 小时，不封顶；没有加班、旷工、早退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34492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000" y="3446526"/>
            <a:ext cx="1749552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计时工（夜班）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0952" y="3446526"/>
            <a:ext cx="8512048" cy="586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上班日 19:00 到次日 10:00 的打卡有效，归上班那天；扣 00:00–01:00 和 05:30–06:00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412216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4223766"/>
            <a:ext cx="1749552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加班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0952" y="4223766"/>
            <a:ext cx="851204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只记班次上下班时间之外的部分；没排班按近期班次兜底；补排班后自动对账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460603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000" y="4707636"/>
            <a:ext cx="1749552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加班饭点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0952" y="4707636"/>
            <a:ext cx="851204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750" b="0" lang="zh-CN">
                <a:solidFill>
                  <a:srgbClr val="E3E8F2"/>
                </a:solidFill>
                <a:latin typeface="Microsoft YaHei"/>
              </a:rPr>
              <a:t>按班次设置，优先级：班次 &gt; 考勤组 &gt; 默认；文员和管理员都能改，只限自己范围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508990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5375656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750" b="0" lang="zh-CN">
                <a:solidFill>
                  <a:srgbClr val="9FB0CC"/>
                </a:solidFill>
                <a:latin typeface="Microsoft YaHei"/>
              </a:rPr>
              <a:t>所有路径统一向下取整到 0.5 小时；加班不足 0.5 小时不能提交。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亮点：计时工模式，按考勤组开关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631695"/>
            <a:ext cx="952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2160" b="0" lang="zh-CN">
                <a:solidFill>
                  <a:srgbClr val="3B4660"/>
                </a:solidFill>
                <a:latin typeface="Microsoft YaHei"/>
              </a:rPr>
              <a:t>成都鹰诺深圳分公司的临时工没有固定下班时间、没有加班申请。系统给考勤组加一个“计时工起始日”，到期前后互不影响，其他公司不受任何影响。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759456"/>
            <a:ext cx="2508250" cy="248488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3013456"/>
            <a:ext cx="200025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480" b="1" lang="zh-CN">
                <a:solidFill>
                  <a:srgbClr val="1F8A8A"/>
                </a:solidFill>
                <a:latin typeface="Microsoft YaHei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982212"/>
            <a:ext cx="2000250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人按计时工算，分属 2 个考勤组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8850" y="2759456"/>
            <a:ext cx="2508250" cy="248488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2850" y="3013456"/>
            <a:ext cx="200025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480" b="1" lang="zh-CN">
                <a:solidFill>
                  <a:srgbClr val="1F8A8A"/>
                </a:solidFill>
                <a:latin typeface="Microsoft YaHei"/>
              </a:rPr>
              <a:t>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3982212"/>
            <a:ext cx="2000250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小时，工时统一向下取整的单位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4900" y="2759456"/>
            <a:ext cx="2508250" cy="248488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900" y="3013456"/>
            <a:ext cx="200025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480" b="1" lang="zh-CN">
                <a:solidFill>
                  <a:srgbClr val="1F8A8A"/>
                </a:solidFill>
                <a:latin typeface="Microsoft YaHe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982212"/>
            <a:ext cx="2000250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分钟，午间打卡窗口的宽限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0950" y="2759456"/>
            <a:ext cx="2508250" cy="2484882"/>
          </a:xfrm>
          <a:prstGeom prst="roundRect">
            <a:avLst>
              <a:gd name="adj" fmla="val 4088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4950" y="3013456"/>
            <a:ext cx="200025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480" b="1" lang="zh-CN">
                <a:solidFill>
                  <a:srgbClr val="E0A030"/>
                </a:solidFill>
                <a:latin typeface="Microsoft YaHei"/>
              </a:rPr>
              <a:t>夜班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4950" y="3982212"/>
            <a:ext cx="2000250" cy="1008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已支持跨零点打卡，仅对夜班计时工生效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审批与加班：规则在提交时就拦住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06295"/>
            <a:ext cx="1666239" cy="715644"/>
          </a:xfrm>
          <a:prstGeom prst="roundRect">
            <a:avLst>
              <a:gd name="adj" fmla="val 1419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000" y="1784095"/>
            <a:ext cx="1513839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员工提交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80640" y="1849818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37840" y="1606295"/>
            <a:ext cx="1666239" cy="715644"/>
          </a:xfrm>
          <a:prstGeom prst="roundRect">
            <a:avLst>
              <a:gd name="adj" fmla="val 1419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4040" y="1784095"/>
            <a:ext cx="1513839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规则校验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5680" y="1849818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62880" y="1606295"/>
            <a:ext cx="1666239" cy="715644"/>
          </a:xfrm>
          <a:prstGeom prst="roundRect">
            <a:avLst>
              <a:gd name="adj" fmla="val 1419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9080" y="1784095"/>
            <a:ext cx="1513839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多级审批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30719" y="1849818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87919" y="1606295"/>
            <a:ext cx="1666239" cy="715644"/>
          </a:xfrm>
          <a:prstGeom prst="roundRect">
            <a:avLst>
              <a:gd name="adj" fmla="val 1419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4119" y="1784095"/>
            <a:ext cx="1513839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回写考勤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55760" y="1849818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12960" y="1606295"/>
            <a:ext cx="1666239" cy="715644"/>
          </a:xfrm>
          <a:prstGeom prst="roundRect">
            <a:avLst>
              <a:gd name="adj" fmla="val 14196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9160" y="1784095"/>
            <a:ext cx="1513839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F7F6F2"/>
                </a:solidFill>
                <a:latin typeface="Microsoft YaHei"/>
              </a:rPr>
              <a:t>汇总刷新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2601341"/>
            <a:ext cx="3403600" cy="2350611"/>
          </a:xfrm>
          <a:prstGeom prst="roundRect">
            <a:avLst>
              <a:gd name="adj" fmla="val 4322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1400" y="2829941"/>
            <a:ext cx="294640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295" b="1" lang="zh-CN">
                <a:solidFill>
                  <a:srgbClr val="1F8A8A"/>
                </a:solidFill>
                <a:latin typeface="Microsoft YaHei"/>
              </a:rPr>
              <a:t>提交时拦截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3283172"/>
            <a:ext cx="2946400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工作日加班不能和班次上下班时间重叠；同一时间段不能重复提交；计时工不能申请加班。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4200" y="2601341"/>
            <a:ext cx="3403600" cy="2350611"/>
          </a:xfrm>
          <a:prstGeom prst="roundRect">
            <a:avLst>
              <a:gd name="adj" fmla="val 4322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2800" y="2829941"/>
            <a:ext cx="294640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295" b="1" lang="zh-CN">
                <a:solidFill>
                  <a:srgbClr val="1F8A8A"/>
                </a:solidFill>
                <a:latin typeface="Microsoft YaHei"/>
              </a:rPr>
              <a:t>提交时间窗与有效期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2800" y="3283172"/>
            <a:ext cx="2946400" cy="1080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加班当天 24 点前提交，夜班可提前一天；补卡、转班 15 天没人处理自动作废。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5600" y="2601341"/>
            <a:ext cx="3403600" cy="2350611"/>
          </a:xfrm>
          <a:prstGeom prst="roundRect">
            <a:avLst>
              <a:gd name="adj" fmla="val 4322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4200" y="2829941"/>
            <a:ext cx="294640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295" b="1" lang="zh-CN">
                <a:solidFill>
                  <a:srgbClr val="E0A030"/>
                </a:solidFill>
                <a:latin typeface="Microsoft YaHei"/>
              </a:rPr>
              <a:t>不依赖排班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4200" y="3283172"/>
            <a:ext cx="2946400" cy="1080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没排班用近期班次兜底；补排班后自动对账，加班只记班次之外的部分。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转班申请：临时换班，不再找管理员改排班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06295"/>
            <a:ext cx="1666239" cy="1075689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000" y="1784095"/>
            <a:ext cx="1513839" cy="720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员工申请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80640" y="2029840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37840" y="1606295"/>
            <a:ext cx="1666239" cy="1075689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4040" y="1784095"/>
            <a:ext cx="1513839" cy="720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规则校验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5680" y="2029840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62880" y="1606295"/>
            <a:ext cx="1666239" cy="1075689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9080" y="1784095"/>
            <a:ext cx="1513839" cy="720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审批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30719" y="2029840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87919" y="1606295"/>
            <a:ext cx="1666239" cy="1075689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4119" y="1784095"/>
            <a:ext cx="1513839" cy="720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14213D"/>
                </a:solidFill>
                <a:latin typeface="Microsoft YaHei"/>
              </a:rPr>
              <a:t>自动改排班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55760" y="2029840"/>
            <a:ext cx="355600" cy="2286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12960" y="1606295"/>
            <a:ext cx="1666239" cy="1075689"/>
          </a:xfrm>
          <a:prstGeom prst="roundRect">
            <a:avLst>
              <a:gd name="adj" fmla="val 9445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9160" y="1784095"/>
            <a:ext cx="1513839" cy="720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61"/>
              </a:lnSpc>
            </a:pPr>
            <a:r>
              <a:rPr sz="2025" b="0" lang="zh-CN">
                <a:solidFill>
                  <a:srgbClr val="F7F6F2"/>
                </a:solidFill>
                <a:latin typeface="Microsoft YaHei"/>
              </a:rPr>
              <a:t>重判打卡加班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2961385"/>
            <a:ext cx="3403600" cy="2710656"/>
          </a:xfrm>
          <a:prstGeom prst="roundRect">
            <a:avLst>
              <a:gd name="adj" fmla="val 374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1400" y="3189985"/>
            <a:ext cx="294640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295" b="1" lang="zh-CN">
                <a:solidFill>
                  <a:srgbClr val="1F8A8A"/>
                </a:solidFill>
                <a:latin typeface="Microsoft YaHei"/>
              </a:rPr>
              <a:t>提交时校验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3643217"/>
            <a:ext cx="2946400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目标班次必须是自己考勤组里启用的；最早补报最近 3 天，最多提前 1 个月；一张最多连续 7 天，时间段不能重叠。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4200" y="2961385"/>
            <a:ext cx="3403600" cy="2710656"/>
          </a:xfrm>
          <a:prstGeom prst="roundRect">
            <a:avLst>
              <a:gd name="adj" fmla="val 374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2800" y="3189985"/>
            <a:ext cx="294640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295" b="1" lang="zh-CN">
                <a:solidFill>
                  <a:srgbClr val="1F8A8A"/>
                </a:solidFill>
                <a:latin typeface="Microsoft YaHei"/>
              </a:rPr>
              <a:t>生效时保护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2800" y="3643217"/>
            <a:ext cx="2946400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3B4660"/>
                </a:solidFill>
                <a:latin typeface="Microsoft YaHei"/>
              </a:rPr>
              <a:t>已有批准请假、出差的日子不改班次；审批期间目标班次被停用则不改，并通知申请人。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5600" y="2961385"/>
            <a:ext cx="3403600" cy="2710656"/>
          </a:xfrm>
          <a:prstGeom prst="roundRect">
            <a:avLst>
              <a:gd name="adj" fmla="val 3748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4200" y="3189985"/>
            <a:ext cx="294640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295" b="1" lang="zh-CN">
                <a:solidFill>
                  <a:srgbClr val="E0A030"/>
                </a:solidFill>
                <a:latin typeface="Microsoft YaHei"/>
              </a:rPr>
              <a:t>白夜互转提醒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4200" y="3643217"/>
            <a:ext cx="2946400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已有打卡的白班与夜班互转，通知申请人和管理员核对打卡归属；转到休息日的空旷工记录改回正常。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管理与报表：给文员和管理员用的工具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月度报表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466721"/>
            <a:ext cx="2844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发薪考勤汇总表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打卡时间表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员工原始打卡记录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按部门、按指定人员导出，分公司只能导自己范围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42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6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员工记录查询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2466721"/>
            <a:ext cx="28448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输入姓名，一页看全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基本信息、考勤组、排班、考勤、打卡、审批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没排班、旷工、打卡与排班对不上直接标红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56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E0A030"/>
                </a:solidFill>
                <a:latin typeface="Microsoft YaHei"/>
              </a:rPr>
              <a:t>口径可追溯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0" y="2466721"/>
            <a:ext cx="284480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E3E8F2"/>
                </a:solidFill>
                <a:latin typeface="Microsoft YaHei"/>
              </a:rPr>
              <a:t>• 更新日志：每次变更都记录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E3E8F2"/>
                </a:solidFill>
                <a:latin typeface="Microsoft YaHei"/>
              </a:rPr>
              <a:t>• 口径登记表：每条计算规则有出处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E3E8F2"/>
                </a:solidFill>
                <a:latin typeface="Microsoft YaHei"/>
              </a:rPr>
              <a:t>• 数据订正：先试算、先备份、单事务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数据质量闭环：自动发现，谨慎订正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数据核对页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466721"/>
            <a:ext cx="2844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只读，最长查 63 天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每条记录按现行规则重算，对比存的工时和加班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六类疑点，可按类型筛选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42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6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1F8A8A"/>
                </a:solidFill>
                <a:latin typeface="Microsoft YaHei"/>
              </a:rPr>
              <a:t>每晚自动核对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2466721"/>
            <a:ext cx="284480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凌晨 4 点后核对最近 14 天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只自动订正“结算时还没排班、后来补排”的工时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3B4660"/>
                </a:solidFill>
                <a:latin typeface="Microsoft YaHei"/>
              </a:rPr>
              <a:t>• 其余只通知管理员；失败 30 分钟后重试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5600" y="1631695"/>
            <a:ext cx="3403600" cy="4413504"/>
          </a:xfrm>
          <a:prstGeom prst="roundRect">
            <a:avLst>
              <a:gd name="adj" fmla="val 2985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0" y="1911095"/>
            <a:ext cx="2844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E0A030"/>
                </a:solidFill>
                <a:latin typeface="Microsoft YaHei"/>
              </a:rPr>
              <a:t>订正原则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0" y="2466721"/>
            <a:ext cx="2844800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E3E8F2"/>
                </a:solidFill>
                <a:latin typeface="Microsoft YaHei"/>
              </a:rPr>
              <a:t>• 线上订正先试算、先备份、单事务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E3E8F2"/>
                </a:solidFill>
                <a:latin typeface="Microsoft YaHei"/>
              </a:rPr>
              <a:t>• 手工订正过的加班，不被夜里对账抹掉</a:t>
            </a:r>
          </a:p>
          <a:p>
            <a:pPr>
              <a:lnSpc>
                <a:spcPct val="121212"/>
              </a:lnSpc>
            </a:pPr>
            <a:r>
              <a:rPr sz="2025" b="0" lang="zh-CN">
                <a:solidFill>
                  <a:srgbClr val="E3E8F2"/>
                </a:solidFill>
                <a:latin typeface="Microsoft YaHei"/>
              </a:rPr>
              <a:t>• 深圳 GA 长期不排班，已从疑点中忽略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技术架构：单体应用，分层清晰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31695"/>
            <a:ext cx="1808480" cy="2162810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34895"/>
            <a:ext cx="1402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客户端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253996"/>
            <a:ext cx="1402080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手机浏览器、管理后台、熵基考勤机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22880" y="2611501"/>
            <a:ext cx="304800" cy="2032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29280" y="1631695"/>
            <a:ext cx="1808480" cy="2162810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2479" y="1834895"/>
            <a:ext cx="1402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2479" y="2253996"/>
            <a:ext cx="1402080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Nginx 反向代理，全程 HTTPS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39360" y="2611501"/>
            <a:ext cx="304800" cy="2032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5760" y="1631695"/>
            <a:ext cx="3616960" cy="2162810"/>
          </a:xfrm>
          <a:prstGeom prst="roundRect">
            <a:avLst>
              <a:gd name="adj" fmla="val 4697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8960" y="1834895"/>
            <a:ext cx="3210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E0A030"/>
                </a:solidFill>
                <a:latin typeface="Microsoft YaHei"/>
              </a:rPr>
              <a:t>应用：ASP.NET Core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8960" y="2253996"/>
            <a:ext cx="3210560" cy="1337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E3E8F2"/>
                </a:solidFill>
                <a:latin typeface="Microsoft YaHei"/>
              </a:rPr>
              <a:t>Razor Pages 与接口；服务层（打卡、工时、审批、报表）；后台任务（旷工标记、提醒、汇总）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64320" y="2611501"/>
            <a:ext cx="304800" cy="20320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70720" y="1631695"/>
            <a:ext cx="1808480" cy="2162810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3920" y="1834895"/>
            <a:ext cx="1402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3920" y="2253996"/>
            <a:ext cx="1402080" cy="1337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MariaDB，EF Core 迁移；私有文件存储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4099305"/>
            <a:ext cx="5232400" cy="922655"/>
          </a:xfrm>
          <a:prstGeom prst="roundRect">
            <a:avLst>
              <a:gd name="adj" fmla="val 8258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4226306"/>
            <a:ext cx="4876800" cy="66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外部服务：阿里云人脸比对；大模型驱动的智能助手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6800" y="4099305"/>
            <a:ext cx="5232400" cy="922655"/>
          </a:xfrm>
          <a:prstGeom prst="roundRect">
            <a:avLst>
              <a:gd name="adj" fmla="val 8258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600" y="4226306"/>
            <a:ext cx="4876800" cy="66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部署：发布包上传，服务重启，日志与登录页校验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490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360" b="1" lang="zh-CN">
                <a:solidFill>
                  <a:srgbClr val="14213D"/>
                </a:solidFill>
                <a:latin typeface="Microsoft YaHei"/>
              </a:rP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652777"/>
            <a:ext cx="164388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1" lang="zh-CN">
                <a:solidFill>
                  <a:srgbClr val="14213D"/>
                </a:solidFill>
                <a:latin typeface="Microsoft YaHei"/>
              </a:rPr>
              <a:t>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5288" y="1652777"/>
            <a:ext cx="3651504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1" lang="zh-CN">
                <a:solidFill>
                  <a:srgbClr val="14213D"/>
                </a:solidFill>
                <a:latin typeface="Microsoft YaHei"/>
              </a:rPr>
              <a:t>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9192" y="1652777"/>
            <a:ext cx="481380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1" lang="zh-CN">
                <a:solidFill>
                  <a:srgbClr val="14213D"/>
                </a:solidFill>
                <a:latin typeface="Microsoft YaHei"/>
              </a:rPr>
              <a:t>用途与说明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988108"/>
            <a:ext cx="10566400" cy="9525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089708"/>
            <a:ext cx="1643888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应用框架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5288" y="2089708"/>
            <a:ext cx="3651504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ASP.NET Core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9192" y="2089708"/>
            <a:ext cx="4813808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Razor Pages 为主，配合 api/[controller] 风格的 Web API，供测试和对接使用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2671470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2773070"/>
            <a:ext cx="164388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数据访问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288" y="2773070"/>
            <a:ext cx="3651504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EF Core 9 + Pomelo MySQL 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192" y="2773070"/>
            <a:ext cx="481380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数据库为 MariaDB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108401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3210001"/>
            <a:ext cx="164388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认证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5288" y="3210001"/>
            <a:ext cx="3651504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Cookie 认证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192" y="3210001"/>
            <a:ext cx="481380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登录票据放在 Cookie 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545332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00" y="3646932"/>
            <a:ext cx="164388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考勤机对接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5288" y="3646932"/>
            <a:ext cx="3651504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熵基（ZKTeco）PUSH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192" y="3646932"/>
            <a:ext cx="481380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设备主动推送打卡数据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3982262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000" y="4083862"/>
            <a:ext cx="164388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文档与日志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5288" y="4083862"/>
            <a:ext cx="3651504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NPOI、Serilog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9192" y="4083862"/>
            <a:ext cx="4813808" cy="246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Excel 导出；日志记录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4419193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000" y="4520793"/>
            <a:ext cx="1643888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云服务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5288" y="4520793"/>
            <a:ext cx="3651504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阿里云视觉智能开放平台、高德地图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192" y="4520793"/>
            <a:ext cx="4813808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人脸活体检测加 1:1 比对（远程打卡用）；打卡地点选点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102555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000" y="5204155"/>
            <a:ext cx="1643888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智能助手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5288" y="5204155"/>
            <a:ext cx="3651504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DeepSeek 大模型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9192" y="5204155"/>
            <a:ext cx="4813808" cy="49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470" b="0" lang="zh-CN">
                <a:solidFill>
                  <a:srgbClr val="14213D"/>
                </a:solidFill>
                <a:latin typeface="Microsoft YaHei"/>
              </a:rPr>
              <a:t>管理员和文员使用，默认关闭；密钥走环境变量 AGENT_API_KEY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" y="5785916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技术要点：把规则做对，把风险挡住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06295"/>
            <a:ext cx="3420533" cy="182848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09495"/>
            <a:ext cx="301413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规则集中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228596"/>
            <a:ext cx="3014133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工时公式、午间窗口、归属考勤日，各只有一处权威实现，所有入口复用。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5733" y="1606295"/>
            <a:ext cx="3420533" cy="182848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8933" y="1809495"/>
            <a:ext cx="301413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开关隔离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8933" y="2228596"/>
            <a:ext cx="3014133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新规则挂在考勤组开关上，只对开启的组生效，其他公司的算法不变。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8666" y="1606295"/>
            <a:ext cx="3420533" cy="182848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1866" y="1809495"/>
            <a:ext cx="301413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后台任务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1866" y="2228596"/>
            <a:ext cx="3014133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定时标记旷工、发提醒、刷新月度汇总，并带重启后的补跑和幂等保护。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587178"/>
            <a:ext cx="3420533" cy="2162810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000" y="3790378"/>
            <a:ext cx="301413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数据变更可控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209478"/>
            <a:ext cx="3014133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数据库迁移可重复执行；历史订正先试算、先备份、单事务、可回滚。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5733" y="3587178"/>
            <a:ext cx="3420533" cy="2162810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8933" y="3790378"/>
            <a:ext cx="301413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1F8A8A"/>
                </a:solidFill>
                <a:latin typeface="Microsoft YaHei"/>
              </a:rPr>
              <a:t>性能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8933" y="4209478"/>
            <a:ext cx="3014133" cy="100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3B4660"/>
                </a:solidFill>
                <a:latin typeface="Microsoft YaHei"/>
              </a:rPr>
              <a:t>报表和对账一次性预加载，避免逐条查库；大批量操作限量或分批。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8666" y="3587178"/>
            <a:ext cx="3420533" cy="2162810"/>
          </a:xfrm>
          <a:prstGeom prst="roundRect">
            <a:avLst>
              <a:gd name="adj" fmla="val 4697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1866" y="3790378"/>
            <a:ext cx="301413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160" b="1" lang="zh-CN">
                <a:solidFill>
                  <a:srgbClr val="E0A030"/>
                </a:solidFill>
                <a:latin typeface="Microsoft YaHei"/>
              </a:rPr>
              <a:t>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6" y="4209478"/>
            <a:ext cx="3014133" cy="1337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1755" b="0" lang="zh-CN">
                <a:solidFill>
                  <a:srgbClr val="E3E8F2"/>
                </a:solidFill>
                <a:latin typeface="Microsoft YaHei"/>
              </a:rPr>
              <a:t>Cookie 加固、登录限流与锁定、文件按归属校验、全程无原生 SQL、考勤机序列号白名单。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F7F6F2"/>
                </a:solidFill>
                <a:latin typeface="Microsoft YaHei"/>
              </a:rPr>
              <a:t>质量保障：测试、审查、可回滚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631695"/>
            <a:ext cx="3302000" cy="1260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9450" b="1" lang="zh-CN">
                <a:solidFill>
                  <a:srgbClr val="E0A030"/>
                </a:solidFill>
                <a:latin typeface="Microsoft YaHei"/>
              </a:rPr>
              <a:t>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942653"/>
            <a:ext cx="3302000" cy="1080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2025" b="0" lang="zh-CN">
                <a:solidFill>
                  <a:srgbClr val="C9D2E3"/>
                </a:solidFill>
                <a:latin typeface="Microsoft YaHei"/>
              </a:rPr>
              <a:t>个自动化测试，覆盖工时、打卡、审批、转班、报表、安全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8800" y="1631695"/>
            <a:ext cx="7010400" cy="2391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788"/>
              </a:lnSpc>
            </a:pPr>
            <a:r>
              <a:rPr sz="2160" b="0" lang="zh-CN">
                <a:solidFill>
                  <a:srgbClr val="E3E8F2"/>
                </a:solidFill>
                <a:latin typeface="Microsoft YaHei"/>
              </a:rPr>
              <a:t>• 每次变更：更新日志、口径登记表、测试一起交付</a:t>
            </a:r>
          </a:p>
          <a:p>
            <a:pPr>
              <a:lnSpc>
                <a:spcPct val="128788"/>
              </a:lnSpc>
            </a:pPr>
            <a:r>
              <a:rPr sz="2160" b="0" lang="zh-CN">
                <a:solidFill>
                  <a:srgbClr val="E3E8F2"/>
                </a:solidFill>
                <a:latin typeface="Microsoft YaHei"/>
              </a:rPr>
              <a:t>• 多轮代码审查，发现的问题逐条修复并补测试</a:t>
            </a:r>
          </a:p>
          <a:p>
            <a:pPr>
              <a:lnSpc>
                <a:spcPct val="128788"/>
              </a:lnSpc>
            </a:pPr>
            <a:r>
              <a:rPr sz="2160" b="0" lang="zh-CN">
                <a:solidFill>
                  <a:srgbClr val="E3E8F2"/>
                </a:solidFill>
                <a:latin typeface="Microsoft YaHei"/>
              </a:rPr>
              <a:t>• 线上数据订正：先试算出清单，备份后在单个事务里写入</a:t>
            </a:r>
          </a:p>
          <a:p>
            <a:pPr>
              <a:lnSpc>
                <a:spcPct val="128788"/>
              </a:lnSpc>
            </a:pPr>
            <a:r>
              <a:rPr sz="2160" b="0" lang="zh-CN">
                <a:solidFill>
                  <a:srgbClr val="E3E8F2"/>
                </a:solidFill>
                <a:latin typeface="Microsoft YaHei"/>
              </a:rPr>
              <a:t>• 发布后校验：服务状态、登录页、错误日志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327588"/>
            <a:ext cx="10566400" cy="624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755" b="0" lang="zh-CN">
                <a:solidFill>
                  <a:srgbClr val="9FB0CC"/>
                </a:solidFill>
                <a:latin typeface="Microsoft YaHei"/>
              </a:rPr>
              <a:t>说明：558 个测试中 552 个通过；另 6 个（私有文件访问 5 个、人脸参考照文件 1 个）在当前开发机上因环境原因失败，不是产品问题，需要在标准环境补跑。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近期交付：从功能到可靠性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701545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1" lang="zh-CN">
                <a:solidFill>
                  <a:srgbClr val="14213D"/>
                </a:solidFill>
                <a:latin typeface="Microsoft YaHei"/>
              </a:rPr>
              <a:t>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4936" y="1701545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1" lang="zh-CN">
                <a:solidFill>
                  <a:srgbClr val="14213D"/>
                </a:solidFill>
                <a:latin typeface="Microsoft YaHei"/>
              </a:rPr>
              <a:t>交付内容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2107285"/>
            <a:ext cx="10566400" cy="9525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2208885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转班申请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4936" y="2208885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员工自助换班，通过后自动改排班并重判打卡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2614625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716225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数据核对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936" y="2716225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核对页加每晚自动核对，只自动订正补排班一类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121964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000" y="3223564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饭点按班次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4936" y="3223564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班次、考勤组、默认三级；文员和管理员都能改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629304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3730904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申请有效期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4936" y="3730904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补卡、转班 15 天未处理自动作废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4136644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000" y="4238244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新用工模式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4936" y="4238244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计时工模式，含夜班、午间窗口、请假不封顶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4643983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000" y="4745583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加班可靠性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4936" y="4745583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不依赖排班；没排班兜底；补排班自动对账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5151323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000" y="5252923"/>
            <a:ext cx="2383536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全面审查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4936" y="5252923"/>
            <a:ext cx="7878064" cy="31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485"/>
              </a:lnSpc>
            </a:pPr>
            <a:r>
              <a:rPr sz="1890" b="0" lang="zh-CN">
                <a:solidFill>
                  <a:srgbClr val="14213D"/>
                </a:solidFill>
                <a:latin typeface="Microsoft YaHei"/>
              </a:rPr>
              <a:t>多轮审查，安全、性能、逻辑问题逐条修复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5658662"/>
            <a:ext cx="10566400" cy="9525"/>
          </a:xfrm>
          <a:prstGeom prst="rect">
            <a:avLst/>
          </a:prstGeom>
          <a:solidFill>
            <a:srgbClr val="B9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F7F6F2"/>
                </a:solidFill>
                <a:latin typeface="Microsoft YaHei"/>
              </a:rPr>
              <a:t>配套材料：员工和文员两本速查手册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31695"/>
            <a:ext cx="5194300" cy="3796665"/>
          </a:xfrm>
          <a:prstGeom prst="roundRect">
            <a:avLst>
              <a:gd name="adj" fmla="val 2676"/>
            </a:avLst>
          </a:prstGeom>
          <a:solidFill>
            <a:srgbClr val="1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1911095"/>
            <a:ext cx="463550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480" b="1" lang="zh-CN">
                <a:solidFill>
                  <a:srgbClr val="E0A030"/>
                </a:solidFill>
                <a:latin typeface="Microsoft YaHei"/>
              </a:rPr>
              <a:t>11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943352"/>
            <a:ext cx="4635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F7F6F2"/>
                </a:solidFill>
                <a:latin typeface="Microsoft YaHei"/>
              </a:rPr>
              <a:t>员工操作手册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498977"/>
            <a:ext cx="463550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• 登录、打卡、人脸、查记录</a:t>
            </a:r>
          </a:p>
          <a:p>
            <a:pPr>
              <a:lnSpc>
                <a:spcPct val="121212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• 五类申请的规则对照表</a:t>
            </a:r>
          </a:p>
          <a:p>
            <a:pPr>
              <a:lnSpc>
                <a:spcPct val="121212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• 异常情况速查；附审批人用法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4900" y="1631695"/>
            <a:ext cx="5194300" cy="3796665"/>
          </a:xfrm>
          <a:prstGeom prst="roundRect">
            <a:avLst>
              <a:gd name="adj" fmla="val 2676"/>
            </a:avLst>
          </a:prstGeom>
          <a:solidFill>
            <a:srgbClr val="1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300" y="1911095"/>
            <a:ext cx="463550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6480" b="1" lang="zh-CN">
                <a:solidFill>
                  <a:srgbClr val="E0A030"/>
                </a:solidFill>
                <a:latin typeface="Microsoft YaHei"/>
              </a:rPr>
              <a:t>23 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300" y="2943352"/>
            <a:ext cx="4635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700" b="1" lang="zh-CN">
                <a:solidFill>
                  <a:srgbClr val="F7F6F2"/>
                </a:solidFill>
                <a:latin typeface="Microsoft YaHei"/>
              </a:rPr>
              <a:t>文员操作手册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300" y="3498977"/>
            <a:ext cx="463550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• 权限与管理范围；13 个管理菜单逐项</a:t>
            </a:r>
          </a:p>
          <a:p>
            <a:pPr>
              <a:lnSpc>
                <a:spcPct val="121212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• 入职、每日、每月、离职四套工作流</a:t>
            </a:r>
          </a:p>
          <a:p>
            <a:pPr>
              <a:lnSpc>
                <a:spcPct val="121212"/>
              </a:lnSpc>
            </a:pPr>
            <a:r>
              <a:rPr sz="1890" b="0" lang="zh-CN">
                <a:solidFill>
                  <a:srgbClr val="E3E8F2"/>
                </a:solidFill>
                <a:latin typeface="Microsoft YaHei"/>
              </a:rPr>
              <a:t>• 常见问题与操作禁区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733160"/>
            <a:ext cx="10566400" cy="312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1755" b="0" lang="zh-CN">
                <a:solidFill>
                  <a:srgbClr val="9FB0CC"/>
                </a:solidFill>
                <a:latin typeface="Microsoft YaHei"/>
              </a:rPr>
              <a:t>文件在 docs/使用说明，Word 与 Markdown 各一份，可打印或群发。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51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3520" b="1" lang="zh-CN">
                <a:solidFill>
                  <a:srgbClr val="14213D"/>
                </a:solidFill>
                <a:latin typeface="Microsoft YaHei"/>
              </a:rPr>
              <a:t>下一步：数据治理与技术债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06295"/>
            <a:ext cx="5194300" cy="4438904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1885695"/>
            <a:ext cx="4635500" cy="377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375" b="1" lang="zh-CN">
                <a:solidFill>
                  <a:srgbClr val="1F8A8A"/>
                </a:solidFill>
                <a:latin typeface="Microsoft YaHei"/>
              </a:rPr>
              <a:t>数据治理（需业务配合）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377027"/>
            <a:ext cx="46355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排班补全：新员工入职时直接排班，继续把未排班的人清零</a:t>
            </a:r>
          </a:p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账号治理：没有考勤组的账号、长期没打卡的账号要分配或停用</a:t>
            </a:r>
          </a:p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口径确认：多段午间窗口是否每段都要打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4900" y="1606295"/>
            <a:ext cx="5194300" cy="4438904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D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300" y="1885695"/>
            <a:ext cx="4635500" cy="377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697"/>
              </a:lnSpc>
            </a:pPr>
            <a:r>
              <a:rPr sz="2375" b="1" lang="zh-CN">
                <a:solidFill>
                  <a:srgbClr val="1F8A8A"/>
                </a:solidFill>
                <a:latin typeface="Microsoft YaHei"/>
              </a:rPr>
              <a:t>技术债与加固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300" y="2377027"/>
            <a:ext cx="4635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初始密码策略：不再统一初始密码，并强制首次改密</a:t>
            </a:r>
          </a:p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图片组件升级：新版修复已知漏洞但需购买授权，待授权确定后升级</a:t>
            </a:r>
          </a:p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转班后旧打卡自动重新归属，目前只提醒人工核对</a:t>
            </a:r>
          </a:p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把三套“打卡归属考勤日”的实现收敛为一处</a:t>
            </a:r>
          </a:p>
          <a:p>
            <a:pPr>
              <a:lnSpc>
                <a:spcPct val="121212"/>
              </a:lnSpc>
            </a:pPr>
            <a:r>
              <a:rPr sz="1750" b="0" lang="zh-CN">
                <a:solidFill>
                  <a:srgbClr val="3B4660"/>
                </a:solidFill>
                <a:latin typeface="Microsoft YaHei"/>
              </a:rPr>
              <a:t>• 在标准环境补跑 6 个环境相关的测试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2201291"/>
            <a:ext cx="1056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61"/>
              </a:lnSpc>
            </a:pPr>
            <a:r>
              <a:rPr sz="2160" b="0" lang="zh-CN">
                <a:solidFill>
                  <a:srgbClr val="5CC4C4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39339"/>
            <a:ext cx="105664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909"/>
              </a:lnSpc>
            </a:pPr>
            <a:r>
              <a:rPr sz="4800" b="1" lang="zh-CN">
                <a:solidFill>
                  <a:srgbClr val="F7F6F2"/>
                </a:solidFill>
                <a:latin typeface="Microsoft YaHei"/>
              </a:rPr>
              <a:t>一套口径，从打卡到发薪全程可追溯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3824858"/>
            <a:ext cx="1016000" cy="38100"/>
          </a:xfrm>
          <a:prstGeom prst="rect">
            <a:avLst/>
          </a:prstGeom>
          <a:solidFill>
            <a:srgbClr val="E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4142358"/>
            <a:ext cx="10566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3636"/>
              </a:lnSpc>
            </a:pPr>
            <a:r>
              <a:rPr sz="2700" b="0" lang="zh-CN">
                <a:solidFill>
                  <a:srgbClr val="C9D2E3"/>
                </a:solidFill>
                <a:latin typeface="Microsoft YaHei"/>
              </a:rPr>
              <a:t>谢谢，欢迎提问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